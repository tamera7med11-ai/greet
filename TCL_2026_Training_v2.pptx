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r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cl_logo"/>
          <p:cNvSpPr txBox="1"/>
          <p:nvPr/>
        </p:nvSpPr>
        <p:spPr>
          <a:xfrm>
            <a:off x="0" y="2286000"/>
            <a:ext cx="12188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E8002D"/>
                </a:solidFill>
                <a:latin typeface="Arial"/>
              </a:rPr>
              <a:t>TCL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r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cl_logo"/>
          <p:cNvSpPr txBox="1"/>
          <p:nvPr/>
        </p:nvSpPr>
        <p:spPr>
          <a:xfrm>
            <a:off x="0" y="8229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002D"/>
                </a:solidFill>
                <a:latin typeface="Arial"/>
              </a:rPr>
              <a:t>TCL</a:t>
            </a:r>
          </a:p>
        </p:txBody>
      </p:sp>
      <p:sp>
        <p:nvSpPr>
          <p:cNvPr id="4" name="yr_2026"/>
          <p:cNvSpPr txBox="1"/>
          <p:nvPr/>
        </p:nvSpPr>
        <p:spPr>
          <a:xfrm>
            <a:off x="0" y="164592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r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TRAINING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88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The Complete
TCL TV Lineup.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605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10 Models. One Vision.</a:t>
            </a:r>
          </a:p>
        </p:txBody>
      </p:sp>
    </p:spTree>
  </p:cSld>
  <p:clrMapOvr>
    <a:masterClrMapping/>
  </p:clrMapOvr>
  <p:timing>
    <p:tnLst>
      <p:par>
        <p:cTn id="508" dur="indefin" restart="whenNotActive" nodeType="tmRoot">
          <p:childTnLst>
            <p:seq concurrent="1" nextAc="seek">
              <p:cTn id="509" dur="indefin" nodeType="mainSeq">
                <p:childTnLst>
                  <p:par>
                    <p:cTn id="501" fill="hold">
                      <p:stCondLst>
                        <p:cond delay="indefin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1"/>
    </p:bldLst>
  </p:timing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rial"/>
              </a:rPr>
              <a:t>This is not a product catalogue.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BBBBB"/>
                </a:solidFill>
                <a:latin typeface="Arial"/>
              </a:rPr>
              <a:t>This is your competitive edge.</a:t>
            </a:r>
          </a:p>
        </p:txBody>
      </p:sp>
    </p:spTree>
  </p:cSld>
  <p:clrMapOvr>
    <a:masterClrMapping/>
  </p:clrMapOvr>
  <p:timing>
    <p:tnLst>
      <p:par>
        <p:cTn id="524" dur="indefin" restart="whenNotActive" nodeType="tmRoot">
          <p:childTnLst>
            <p:seq concurrent="1" nextAc="seek">
              <p:cTn id="525" dur="indefin" nodeType="mainSeq">
                <p:childTnLst>
                  <p:par>
                    <p:cTn id="510" fill="hold">
                      <p:stCondLst>
                        <p:cond delay="indefin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3" grpId="2"/>
      <p:bldP spid="4" grpId="3"/>
    </p:bld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lets_begin"/>
          <p:cNvSpPr txBox="1"/>
          <p:nvPr/>
        </p:nvSpPr>
        <p:spPr>
          <a:xfrm>
            <a:off x="0" y="2194560"/>
            <a:ext cx="12188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Let's begin.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1605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What changed
this year?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ev_big"/>
          <p:cNvSpPr txBox="1"/>
          <p:nvPr/>
        </p:nvSpPr>
        <p:spPr>
          <a:xfrm>
            <a:off x="0" y="1371600"/>
            <a:ext cx="121889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</a:rPr>
              <a:t>Everything.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ev_big"/>
          <p:cNvSpPr txBox="1"/>
          <p:nvPr/>
        </p:nvSpPr>
        <p:spPr>
          <a:xfrm>
            <a:off x="0" y="5486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"/>
              </a:rPr>
              <a:t>Everything.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201168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SQD Technology — across the premium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RGB MiniLED — for the ultra-large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Dolby Vision 2 Max — exclusive to TCL.</a:t>
            </a:r>
          </a:p>
        </p:txBody>
      </p:sp>
    </p:spTree>
  </p:cSld>
  <p:clrMapOvr>
    <a:masterClrMapping/>
  </p:clrMapOvr>
  <p:timing>
    <p:tnLst>
      <p:par>
        <p:cTn id="547" dur="indefin" restart="whenNotActive" nodeType="tmRoot">
          <p:childTnLst>
            <p:seq concurrent="1" nextAc="seek">
              <p:cTn id="548" dur="indefin" nodeType="mainSeq">
                <p:childTnLst>
                  <p:par>
                    <p:cTn id="526" fill="hold">
                      <p:stCondLst>
                        <p:cond delay="indefin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5" grpId="4"/>
      <p:bldP spid="6" grpId="5"/>
      <p:bldP spid="7" grpId="6"/>
    </p:bldLst>
  </p:timing>
  <p:transition xmlns:p14="http://schemas.microsoft.com/office/powerpoint/2010/main" spd="med">
    <p14:morph style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2026 FULL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60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X11L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96012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Flagship · SQD MiniLED · 10,000 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2588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184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RM9L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1848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Ultra-Large · RGB MiniLED · 9,000 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8424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276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C8L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768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Premium · SQD MiniLED · 6,000 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6426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93522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C7L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3522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Best Seller · SQD MiniLED · 3,000 nits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30098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5935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RM7L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9359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Large · RGB MiniLED · 2,000 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9593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251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C6L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25196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Mid Premium · QLED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61772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910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P8L / P7L / P6L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1032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Value · 4K Smart TV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527608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568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V6D / T6D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56869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Entry · Smart TV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593445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661" dur="indefin" restart="whenNotActive" nodeType="tmRoot">
          <p:childTnLst>
            <p:seq concurrent="1" nextAc="seek">
              <p:cTn id="662" dur="indefin" nodeType="mainSeq">
                <p:childTnLst>
                  <p:par>
                    <p:cTn id="549" fill="hold">
                      <p:stCondLst>
                        <p:cond delay="indefin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0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0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0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0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0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0" presetClass="entr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0" presetClass="entr" presetSubtype="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10" presetClass="entr" presetSubtype="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0" presetClass="entr" presetSubtype="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0" presetClass="entr" presetSubtype="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0" presetClass="entr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fill="hold">
                      <p:stCondLst>
                        <p:cond delay="indefin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10" presetClass="entr" presetSubtype="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7"/>
      <p:bldP spid="5" grpId="8"/>
      <p:bldP spid="7" grpId="9"/>
      <p:bldP spid="8" grpId="10"/>
      <p:bldP spid="10" grpId="11"/>
      <p:bldP spid="11" grpId="12"/>
      <p:bldP spid="13" grpId="13"/>
      <p:bldP spid="14" grpId="14"/>
      <p:bldP spid="16" grpId="15"/>
      <p:bldP spid="17" grpId="16"/>
      <p:bldP spid="19" grpId="17"/>
      <p:bldP spid="20" grpId="18"/>
      <p:bldP spid="22" grpId="19"/>
      <p:bldP spid="23" grpId="20"/>
      <p:bldP spid="25" grpId="21"/>
      <p:bldP spid="26" grpId="22"/>
    </p:bld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459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Know the lineup.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Own the floor.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FLAGSHIP</a:t>
            </a:r>
          </a:p>
        </p:txBody>
      </p:sp>
      <p:sp>
        <p:nvSpPr>
          <p:cNvPr id="4" name="x11l_hero"/>
          <p:cNvSpPr txBox="1"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0" b="1" i="0">
                <a:solidFill>
                  <a:srgbClr val="FFFFFF"/>
                </a:solidFill>
                <a:latin typeface="Arial"/>
              </a:rPr>
              <a:t>X11L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The pinnacle of display technology.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There is no TV
above the X11L.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x11l_nit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10,000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x11l_nit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10,000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of Brightness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X11L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x11l_zone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x11l_zone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The most precise backlight ever built.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PANEL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WHVA 2.0 Ultra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1089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Wide High Viewing Angle — 2nd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Perfect color from every seat in the room.</a:t>
            </a:r>
          </a:p>
        </p:txBody>
      </p:sp>
    </p:spTree>
  </p:cSld>
  <p:clrMapOvr>
    <a:masterClrMapping/>
  </p:clrMapOvr>
  <p:timing>
    <p:tnLst>
      <p:par>
        <p:cTn id="677" dur="indefin" restart="whenNotActive" nodeType="tmRoot">
          <p:childTnLst>
            <p:seq concurrent="1" nextAc="seek">
              <p:cTn id="678" dur="indefin" nodeType="mainSeq">
                <p:childTnLst>
                  <p:par>
                    <p:cTn id="663" fill="hold">
                      <p:stCondLst>
                        <p:cond delay="indefin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presetSubtype="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0" presetClass="entr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23"/>
      <p:bldP spid="7" grpId="24"/>
    </p:bldLst>
  </p:timing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X11L FULL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05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0584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WHVA 2.0 Ultra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7556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Backlight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5564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2140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5054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054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10,000 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8712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255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5526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62102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0050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0507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370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754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75"  ·  85"  ·  98"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12064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763" dur="indefin" restart="whenNotActive" nodeType="tmRoot">
          <p:childTnLst>
            <p:seq concurrent="1" nextAc="seek">
              <p:cTn id="764" dur="indefin" nodeType="mainSeq">
                <p:childTnLst>
                  <p:par>
                    <p:cTn id="679" fill="hold">
                      <p:stCondLst>
                        <p:cond delay="indefin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0" presetClass="entr" presetSubtype="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6" fill="hold">
                      <p:stCondLst>
                        <p:cond delay="indefin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0" presetClass="entr" presetSubtype="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0" presetClass="entr" presetSubtype="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0" fill="hold">
                      <p:stCondLst>
                        <p:cond delay="indefin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presetID="10" presetClass="entr" presetSubtype="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indefin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0" presetClass="entr" presetSubtype="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indefin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0" presetClass="entr" presetSubtype="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0" presetClass="entr" presetSubtype="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fill="hold">
                      <p:stCondLst>
                        <p:cond delay="indefin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10" presetClass="entr" presetSubtype="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fill="hold">
                      <p:stCondLst>
                        <p:cond delay="indefin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0" presetClass="entr" presetSubtype="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0" presetClass="entr" presetSubtype="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0" presetClass="entr" presetSubtype="0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6" fill="hold">
                      <p:stCondLst>
                        <p:cond delay="indefin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0" presetClass="entr" presetSubtype="0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25"/>
      <p:bldP spid="5" grpId="26"/>
      <p:bldP spid="7" grpId="27"/>
      <p:bldP spid="8" grpId="28"/>
      <p:bldP spid="10" grpId="29"/>
      <p:bldP spid="11" grpId="30"/>
      <p:bldP spid="13" grpId="31"/>
      <p:bldP spid="14" grpId="32"/>
      <p:bldP spid="16" grpId="33"/>
      <p:bldP spid="17" grpId="34"/>
      <p:bldP spid="19" grpId="35"/>
      <p:bldP spid="20" grpId="36"/>
    </p:bldLst>
  </p:timing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AVAILABLE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75"     85"     98"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From premium to palace.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There's nothing
above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X11L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ULTRA-LARGE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0" b="1" i="0">
                <a:solidFill>
                  <a:srgbClr val="FFFFFF"/>
                </a:solidFill>
                <a:latin typeface="Arial"/>
              </a:rPr>
              <a:t>RM9L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RGB MiniLED. Reimagined.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8229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Massive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Massive brightness.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Massive impact.</a:t>
            </a:r>
          </a:p>
        </p:txBody>
      </p:sp>
    </p:spTree>
  </p:cSld>
  <p:clrMapOvr>
    <a:masterClrMapping/>
  </p:clrMapOvr>
  <p:timing>
    <p:tnLst>
      <p:par>
        <p:cTn id="786" dur="indefin" restart="whenNotActive" nodeType="tmRoot">
          <p:childTnLst>
            <p:seq concurrent="1" nextAc="seek">
              <p:cTn id="787" dur="indefin" nodeType="mainSeq">
                <p:childTnLst>
                  <p:par>
                    <p:cTn id="765" fill="hold">
                      <p:stCondLst>
                        <p:cond delay="indefin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0" presetClass="entr" presetSubtype="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indefin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presetID="10" presetClass="entr" presetSubtype="0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indefin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0" presetClass="entr" presetSubtype="0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3" grpId="37"/>
      <p:bldP spid="4" grpId="38"/>
      <p:bldP spid="5" grpId="39"/>
    </p:bldLst>
  </p:timing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rm9l_nit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9,000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rm9l_nit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9,000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RGB MiniLED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RM9L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SCREEN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85"     98"     115"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When bigger is the point.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RM9L FULL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Backlight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28016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RGB MiniLED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4592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0848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8483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9,000 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4505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8895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Color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8950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Ultra-wide color gamut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25526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6941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9417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05993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4988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49884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85"  ·  98"  ·  115"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86460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858" dur="indefin" restart="whenNotActive" nodeType="tmRoot">
          <p:childTnLst>
            <p:seq concurrent="1" nextAc="seek">
              <p:cTn id="859" dur="indefin" nodeType="mainSeq">
                <p:childTnLst>
                  <p:par>
                    <p:cTn id="788" fill="hold">
                      <p:stCondLst>
                        <p:cond delay="indefin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id="790" presetID="10" presetClass="entr" presetSubtype="0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indefin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0" presetClass="entr" presetSubtype="0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indefin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10" presetClass="entr" presetSubtype="0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presetID="10" presetClass="entr" presetSubtype="0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indefin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10" presetClass="entr" presetSubtype="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10" presetClass="entr" presetSubtype="0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indefin"/>
                      </p:stCondLst>
                      <p:childTnLst>
                        <p:par>
                          <p:cTn id="831" fill="hold">
                            <p:stCondLst>
                              <p:cond delay="0"/>
                            </p:stCondLst>
                            <p:childTnLst>
                              <p:par>
                                <p:cTn id="832" presetID="10" presetClass="entr" presetSubtype="0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indefin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10" presetClass="entr" presetSubtype="0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indefin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id="846" presetID="10" presetClass="entr" presetSubtype="0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indefin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0" presetClass="entr" presetSubtype="0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40"/>
      <p:bldP spid="5" grpId="41"/>
      <p:bldP spid="7" grpId="42"/>
      <p:bldP spid="8" grpId="43"/>
      <p:bldP spid="10" grpId="44"/>
      <p:bldP spid="11" grpId="45"/>
      <p:bldP spid="13" grpId="46"/>
      <p:bldP spid="14" grpId="47"/>
      <p:bldP spid="16" grpId="48"/>
      <p:bldP spid="17" grpId="49"/>
    </p:bldLst>
  </p:timing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46304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Arial"/>
              </a:rPr>
              <a:t>For the customer who wants it all
— and larger.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Arial"/>
              </a:rPr>
              <a:t>C8L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SQD MiniLED. Perfected.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8l_nit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6,000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8l_nit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6,000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SQD MiniLED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C8L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8l_zone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8l_zone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Precision you can see.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WORLD EXCLUSIVE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"/>
              </a:rPr>
              <a:t>Dolby Vision 2 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1371600"/>
            <a:ext cx="2468880" cy="502920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EXCLUSIVE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0175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Only available on the TCL C8L.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23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002D"/>
                </a:solidFill>
                <a:latin typeface="Arial"/>
              </a:rPr>
              <a:t>No other brand has this. Use it.</a:t>
            </a:r>
          </a:p>
        </p:txBody>
      </p:sp>
    </p:spTree>
  </p:cSld>
  <p:clrMapOvr>
    <a:masterClrMapping/>
  </p:clrMapOvr>
  <p:timing>
    <p:tnLst>
      <p:par>
        <p:cTn id="874" dur="indefin" restart="whenNotActive" nodeType="tmRoot">
          <p:childTnLst>
            <p:seq concurrent="1" nextAc="seek">
              <p:cTn id="875" dur="indefin" nodeType="mainSeq">
                <p:childTnLst>
                  <p:par>
                    <p:cTn id="860" fill="hold">
                      <p:stCondLst>
                        <p:cond delay="indefin"/>
                      </p:stCondLst>
                      <p:childTnLst>
                        <p:par>
                          <p:cTn id="861" fill="hold">
                            <p:stCondLst>
                              <p:cond delay="0"/>
                            </p:stCondLst>
                            <p:childTnLst>
                              <p:par>
                                <p:cTn id="862" presetID="10" presetClass="entr" presetSubtype="0" fill="hold" grpId="5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indefin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0" presetClass="entr" presetSubtype="0" fill="hold" grpId="5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8" grpId="50"/>
      <p:bldP spid="9" grpId="51"/>
    </p:bldLst>
  </p:timing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C8L FULL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05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0584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7556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5564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6,000 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2140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5054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054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8712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255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Exclusive HDR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5526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★  Dolby Vision 2 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62102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0050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also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0507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370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754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55"  to  98"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12064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960" dur="indefin" restart="whenNotActive" nodeType="tmRoot">
          <p:childTnLst>
            <p:seq concurrent="1" nextAc="seek">
              <p:cTn id="961" dur="indefin" nodeType="mainSeq">
                <p:childTnLst>
                  <p:par>
                    <p:cTn id="876" fill="hold">
                      <p:stCondLst>
                        <p:cond delay="indefin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ntr" presetSubtype="0" fill="hold" grpId="5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presetID="10" presetClass="entr" presetSubtype="0" fill="hold" grpId="5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0" fill="hold">
                      <p:stCondLst>
                        <p:cond delay="indefin"/>
                      </p:stCondLst>
                      <p:childTnLst>
                        <p:par>
                          <p:cTn id="891" fill="hold">
                            <p:stCondLst>
                              <p:cond delay="0"/>
                            </p:stCondLst>
                            <p:childTnLst>
                              <p:par>
                                <p:cTn id="892" presetID="10" presetClass="entr" presetSubtype="0" fill="hold" grpId="5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7" fill="hold">
                      <p:stCondLst>
                        <p:cond delay="indefin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0" presetClass="entr" presetSubtype="0" fill="hold" grpId="5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4" fill="hold">
                      <p:stCondLst>
                        <p:cond delay="indefin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ntr" presetSubtype="0" fill="hold" grpId="5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0" presetClass="entr" presetSubtype="0" fill="hold" grpId="5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8" fill="hold">
                      <p:stCondLst>
                        <p:cond delay="indefin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0" presetClass="entr" presetSubtype="0" fill="hold" grpId="5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indefin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10" presetClass="entr" presetSubtype="0" fill="hold" grpId="5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2" fill="hold">
                      <p:stCondLst>
                        <p:cond delay="indefin"/>
                      </p:stCondLst>
                      <p:childTnLst>
                        <p:par>
                          <p:cTn id="933" fill="hold">
                            <p:stCondLst>
                              <p:cond delay="0"/>
                            </p:stCondLst>
                            <p:childTnLst>
                              <p:par>
                                <p:cTn id="934" presetID="10" presetClass="entr" presetSubtype="0" fill="hold" grpId="6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fill="hold">
                      <p:stCondLst>
                        <p:cond delay="indefin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0" presetClass="entr" presetSubtype="0" fill="hold" grpId="6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indefin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presetID="10" presetClass="entr" presetSubtype="0" fill="hold" grpId="6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3" fill="hold">
                      <p:stCondLst>
                        <p:cond delay="indefin"/>
                      </p:stCondLst>
                      <p:childTnLst>
                        <p:par>
                          <p:cTn id="954" fill="hold">
                            <p:stCondLst>
                              <p:cond delay="0"/>
                            </p:stCondLst>
                            <p:childTnLst>
                              <p:par>
                                <p:cTn id="955" presetID="10" presetClass="entr" presetSubtype="0" fill="hold" grpId="6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52"/>
      <p:bldP spid="5" grpId="53"/>
      <p:bldP spid="7" grpId="54"/>
      <p:bldP spid="8" grpId="55"/>
      <p:bldP spid="10" grpId="56"/>
      <p:bldP spid="11" grpId="57"/>
      <p:bldP spid="13" grpId="58"/>
      <p:bldP spid="14" grpId="59"/>
      <p:bldP spid="16" grpId="60"/>
      <p:bldP spid="17" grpId="61"/>
      <p:bldP spid="19" grpId="62"/>
      <p:bldP spid="20" grpId="63"/>
    </p:bldLst>
  </p:timing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Premium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Exclusive technology.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C8L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BEST SELLER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Arial"/>
              </a:rPr>
              <a:t>C7L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SQD MiniLED. For everyone.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The one they'll
ask for by name.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nit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3,000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nit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3,000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SQD MiniLED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C7L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zone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2,176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zone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2,176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Blacks this deep have never been this affordable.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hz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c7l_hz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Refresh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Zero blur. Zero ghosting.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486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Gaming.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Movies.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Sports.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Everything.</a:t>
            </a:r>
          </a:p>
        </p:txBody>
      </p:sp>
    </p:spTree>
  </p:cSld>
  <p:clrMapOvr>
    <a:masterClrMapping/>
  </p:clrMapOvr>
  <p:timing>
    <p:tnLst>
      <p:par>
        <p:cTn id="990" dur="indefin" restart="whenNotActive" nodeType="tmRoot">
          <p:childTnLst>
            <p:seq concurrent="1" nextAc="seek">
              <p:cTn id="991" dur="indefin" nodeType="mainSeq">
                <p:childTnLst>
                  <p:par>
                    <p:cTn id="962" fill="hold">
                      <p:stCondLst>
                        <p:cond delay="indefin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9" fill="hold">
                      <p:stCondLst>
                        <p:cond delay="indefin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10" presetClass="entr" presetSubtype="0" fill="hold" grpId="6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6" fill="hold">
                      <p:stCondLst>
                        <p:cond delay="indefin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presetID="10" presetClass="entr" presetSubtype="0" fill="hold" grpId="6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3" fill="hold">
                      <p:stCondLst>
                        <p:cond delay="indefin"/>
                      </p:stCondLst>
                      <p:childTnLst>
                        <p:par>
                          <p:cTn id="984" fill="hold">
                            <p:stCondLst>
                              <p:cond delay="0"/>
                            </p:stCondLst>
                            <p:childTnLst>
                              <p:par>
                                <p:cTn id="985" presetID="10" presetClass="entr" presetSubtype="0" fill="hold" grpId="6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3" grpId="64"/>
      <p:bldP spid="4" grpId="65"/>
      <p:bldP spid="5" grpId="66"/>
      <p:bldP spid="6" grpId="67"/>
    </p:bldLst>
  </p:timing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C7L FULL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822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82296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81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8132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3,000 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4708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139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3969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Up to 2,176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50545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7980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Refresh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9806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16382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456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5643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8221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14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1480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55"  to  98"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48056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773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Color Combinations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7316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1.07 Billion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513892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090" dur="indefin" restart="whenNotActive" nodeType="tmRoot">
          <p:childTnLst>
            <p:seq concurrent="1" nextAc="seek">
              <p:cTn id="1091" dur="indefin" nodeType="mainSeq">
                <p:childTnLst>
                  <p:par>
                    <p:cTn id="992" fill="hold">
                      <p:stCondLst>
                        <p:cond delay="indefin"/>
                      </p:stCondLst>
                      <p:childTnLst>
                        <p:par>
                          <p:cTn id="993" fill="hold">
                            <p:stCondLst>
                              <p:cond delay="0"/>
                            </p:stCondLst>
                            <p:childTnLst>
                              <p:par>
                                <p:cTn id="994" presetID="10" presetClass="entr" presetSubtype="0" fill="hold" grpId="6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9" fill="hold">
                      <p:stCondLst>
                        <p:cond delay="indefin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0" presetClass="entr" presetSubtype="0" fill="hold" grpId="6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6" fill="hold">
                      <p:stCondLst>
                        <p:cond delay="indefin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id="1008" presetID="10" presetClass="entr" presetSubtype="0" fill="hold" grpId="7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indefin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presetID="10" presetClass="entr" presetSubtype="0" fill="hold" grpId="7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indefin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10" presetClass="entr" presetSubtype="0" fill="hold" grpId="7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presetID="10" presetClass="entr" presetSubtype="0" fill="hold" grpId="7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4" fill="hold">
                      <p:stCondLst>
                        <p:cond delay="indefin"/>
                      </p:stCondLst>
                      <p:childTnLst>
                        <p:par>
                          <p:cTn id="1035" fill="hold">
                            <p:stCondLst>
                              <p:cond delay="0"/>
                            </p:stCondLst>
                            <p:childTnLst>
                              <p:par>
                                <p:cTn id="1036" presetID="10" presetClass="entr" presetSubtype="0" fill="hold" grpId="7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1" fill="hold">
                      <p:stCondLst>
                        <p:cond delay="indefin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0" presetClass="entr" presetSubtype="0" fill="hold" grpId="7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8" fill="hold">
                      <p:stCondLst>
                        <p:cond delay="indefin"/>
                      </p:stCondLst>
                      <p:childTnLst>
                        <p:par>
                          <p:cTn id="1049" fill="hold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ntr" presetSubtype="0" fill="hold" grpId="7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>
                      <p:stCondLst>
                        <p:cond delay="indefin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10" presetClass="entr" presetSubtype="0" fill="hold" grpId="7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2" fill="hold">
                      <p:stCondLst>
                        <p:cond delay="indefin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10" presetClass="entr" presetSubtype="0" fill="hold" grpId="7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0" presetClass="entr" presetSubtype="0" fill="hold" grpId="7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6" fill="hold">
                      <p:stCondLst>
                        <p:cond delay="indefin"/>
                      </p:stCondLst>
                      <p:childTnLst>
                        <p:par>
                          <p:cTn id="1077" fill="hold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ntr" presetSubtype="0" fill="hold" grpId="8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3" fill="hold">
                      <p:stCondLst>
                        <p:cond delay="indefin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0" presetClass="entr" presetSubtype="0" fill="hold" grpId="8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68"/>
      <p:bldP spid="5" grpId="69"/>
      <p:bldP spid="7" grpId="70"/>
      <p:bldP spid="8" grpId="71"/>
      <p:bldP spid="10" grpId="72"/>
      <p:bldP spid="11" grpId="73"/>
      <p:bldP spid="13" grpId="74"/>
      <p:bldP spid="14" grpId="75"/>
      <p:bldP spid="16" grpId="76"/>
      <p:bldP spid="17" grpId="77"/>
      <p:bldP spid="19" grpId="78"/>
      <p:bldP spid="20" grpId="79"/>
      <p:bldP spid="22" grpId="80"/>
      <p:bldP spid="23" grpId="81"/>
    </p:bldLst>
  </p:timing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The best seller
for a reason.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C7L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LARGE SCREEN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889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0" b="1" i="0">
                <a:solidFill>
                  <a:srgbClr val="FFFFFF"/>
                </a:solidFill>
                <a:latin typeface="Arial"/>
              </a:rPr>
              <a:t>RM7L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RGB MiniLED. Bold colors at scale.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rm7l_nits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0" b="1" i="0">
                <a:solidFill>
                  <a:srgbClr val="FFFFFF"/>
                </a:solidFill>
                <a:latin typeface="Arial"/>
              </a:rPr>
              <a:t>2,000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num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rm7l_nits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2,000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RGB MiniLED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RM7L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1440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Big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Bold colors.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Better value.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MID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C6L · P8L · P7L · P6L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6576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Smart. Sharp. Affordable.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QLED · MID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C6L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38912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QLED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75488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0474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04748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4K Ultra HD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41324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705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7058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60716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134" dur="indefin" restart="whenNotActive" nodeType="tmRoot">
          <p:childTnLst>
            <p:seq concurrent="1" nextAc="seek">
              <p:cTn id="1135" dur="indefin" nodeType="mainSeq">
                <p:childTnLst>
                  <p:par>
                    <p:cTn id="1092" fill="hold">
                      <p:stCondLst>
                        <p:cond delay="indefin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0" presetClass="entr" presetSubtype="0" fill="hold" grpId="8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9" fill="hold">
                      <p:stCondLst>
                        <p:cond delay="indefin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0" presetClass="entr" presetSubtype="0" fill="hold" grpId="8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6" fill="hold">
                      <p:stCondLst>
                        <p:cond delay="indefin"/>
                      </p:stCondLst>
                      <p:childTnLst>
                        <p:par>
                          <p:cTn id="1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8" presetID="10" presetClass="entr" presetSubtype="0" fill="hold" grpId="8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3" fill="hold">
                      <p:stCondLst>
                        <p:cond delay="indefin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0" presetClass="entr" presetSubtype="0" fill="hold" grpId="8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indefin"/>
                      </p:stCondLst>
                      <p:childTnLst>
                        <p:par>
                          <p:cTn id="1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presetID="10" presetClass="entr" presetSubtype="0" fill="hold" grpId="8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>
                      <p:stCondLst>
                        <p:cond delay="indefin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10" presetClass="entr" presetSubtype="0" fill="hold" grpId="8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82"/>
      <p:bldP spid="7" grpId="83"/>
      <p:bldP spid="9" grpId="84"/>
      <p:bldP spid="10" grpId="85"/>
      <p:bldP spid="12" grpId="86"/>
      <p:bldP spid="13" grpId="87"/>
    </p:bldLst>
  </p:timing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MINILED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P8L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38912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MiniLED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75488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0474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04748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4K Ultra HD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41324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705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7058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60716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178" dur="indefin" restart="whenNotActive" nodeType="tmRoot">
          <p:childTnLst>
            <p:seq concurrent="1" nextAc="seek">
              <p:cTn id="1179" dur="indefin" nodeType="mainSeq">
                <p:childTnLst>
                  <p:par>
                    <p:cTn id="1136" fill="hold">
                      <p:stCondLst>
                        <p:cond delay="indefin"/>
                      </p:stCondLst>
                      <p:childTnLst>
                        <p:par>
                          <p:cTn id="1137" fill="hold">
                            <p:stCondLst>
                              <p:cond delay="0"/>
                            </p:stCondLst>
                            <p:childTnLst>
                              <p:par>
                                <p:cTn id="1138" presetID="10" presetClass="entr" presetSubtype="0" fill="hold" grpId="8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3" fill="hold">
                      <p:stCondLst>
                        <p:cond delay="indefin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0" presetClass="entr" presetSubtype="0" fill="hold" grpId="8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indefin"/>
                      </p:stCondLst>
                      <p:childTnLst>
                        <p:par>
                          <p:cTn id="1151" fill="hold">
                            <p:stCondLst>
                              <p:cond delay="0"/>
                            </p:stCondLst>
                            <p:childTnLst>
                              <p:par>
                                <p:cTn id="1152" presetID="10" presetClass="entr" presetSubtype="0" fill="hold" grpId="9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7" fill="hold">
                      <p:stCondLst>
                        <p:cond delay="indefin"/>
                      </p:stCondLst>
                      <p:childTnLst>
                        <p:par>
                          <p:cTn id="1158" fill="hold">
                            <p:stCondLst>
                              <p:cond delay="0"/>
                            </p:stCondLst>
                            <p:childTnLst>
                              <p:par>
                                <p:cTn id="1159" presetID="10" presetClass="entr" presetSubtype="0" fill="hold" grpId="9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4" fill="hold">
                      <p:stCondLst>
                        <p:cond delay="indefin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10" presetClass="entr" presetSubtype="0" fill="hold" grpId="9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1" fill="hold">
                      <p:stCondLst>
                        <p:cond delay="indefin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presetID="10" presetClass="entr" presetSubtype="0" fill="hold" grpId="9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88"/>
      <p:bldP spid="7" grpId="89"/>
      <p:bldP spid="9" grpId="90"/>
      <p:bldP spid="10" grpId="91"/>
      <p:bldP spid="12" grpId="92"/>
      <p:bldP spid="13" grpId="93"/>
    </p:bldLst>
  </p:timing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4K SMART TV ·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7274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</a:rPr>
              <a:t>P7L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7274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  <a:latin typeface="Arial"/>
              </a:rPr>
              <a:t>4K · HDR10 · Smart TV
Great everyday viewing
for any family.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1188720"/>
            <a:ext cx="18288" cy="4572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7274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</a:rPr>
              <a:t>P6L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91840"/>
            <a:ext cx="47274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  <a:latin typeface="Arial"/>
              </a:rPr>
              <a:t>4K · HDR · Smart TV
The entry point
to the TCL family.</a:t>
            </a:r>
          </a:p>
        </p:txBody>
      </p:sp>
    </p:spTree>
  </p:cSld>
  <p:clrMapOvr>
    <a:masterClrMapping/>
  </p:clrMapOvr>
  <p:timing>
    <p:tnLst>
      <p:par>
        <p:cTn id="1194" dur="indefin" restart="whenNotActive" nodeType="tmRoot">
          <p:childTnLst>
            <p:seq concurrent="1" nextAc="seek">
              <p:cTn id="1195" dur="indefin" nodeType="mainSeq">
                <p:childTnLst>
                  <p:par>
                    <p:cTn id="1180" fill="hold">
                      <p:stCondLst>
                        <p:cond delay="indefin"/>
                      </p:stCondLst>
                      <p:childTnLst>
                        <p:par>
                          <p:cTn id="1181" fill="hold">
                            <p:stCondLst>
                              <p:cond delay="0"/>
                            </p:stCondLst>
                            <p:childTnLst>
                              <p:par>
                                <p:cTn id="1182" presetID="10" presetClass="entr" presetSubtype="0" fill="hold" grpId="9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7" fill="hold">
                      <p:stCondLst>
                        <p:cond delay="indefin"/>
                      </p:stCondLst>
                      <p:childTnLst>
                        <p:par>
                          <p:cTn id="1188" fill="hold">
                            <p:stCondLst>
                              <p:cond delay="0"/>
                            </p:stCondLst>
                            <p:childTnLst>
                              <p:par>
                                <p:cTn id="1189" presetID="10" presetClass="entr" presetSubtype="0" fill="hold" grpId="9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5" grpId="94"/>
      <p:bldP spid="8" grpId="95"/>
    </p:bldLst>
  </p:timing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28016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A TCL for
every budget.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5720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No customer walks away empty-handed.</a:t>
            </a:r>
          </a:p>
        </p:txBody>
      </p:sp>
    </p:spTree>
  </p:cSld>
  <p:clrMapOvr>
    <a:masterClrMapping/>
  </p:clrMapOvr>
  <p:timing>
    <p:tnLst>
      <p:par>
        <p:cTn id="1203" dur="indefin" restart="whenNotActive" nodeType="tmRoot">
          <p:childTnLst>
            <p:seq concurrent="1" nextAc="seek">
              <p:cTn id="1204" dur="indefin" nodeType="mainSeq">
                <p:childTnLst>
                  <p:par>
                    <p:cTn id="1196" fill="hold">
                      <p:stCondLst>
                        <p:cond delay="indefin"/>
                      </p:stCondLst>
                      <p:childTnLst>
                        <p:par>
                          <p:cTn id="1197" fill="hold">
                            <p:stCondLst>
                              <p:cond delay="0"/>
                            </p:stCondLst>
                            <p:childTnLst>
                              <p:par>
                                <p:cTn id="1198" presetID="10" presetClass="entr" presetSubtype="0" fill="hold" grpId="9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5" grpId="96"/>
    </p:bldLst>
  </p:timing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ENTRY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V6D &amp; T6D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6576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Smart TV. Real quality. TCL price.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V6D &amp; T6D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6304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Full HD / 4K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82880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267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Smart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6771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Google TV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6334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0723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7238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43814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8770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8770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WiFi · Bluetooth · HDMI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2428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6817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68172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Best first TV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04748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275" dur="indefin" restart="whenNotActive" nodeType="tmRoot">
          <p:childTnLst>
            <p:seq concurrent="1" nextAc="seek">
              <p:cTn id="1276" dur="indefin" nodeType="mainSeq">
                <p:childTnLst>
                  <p:par>
                    <p:cTn id="1205" fill="hold">
                      <p:stCondLst>
                        <p:cond delay="indefin"/>
                      </p:stCondLst>
                      <p:childTnLst>
                        <p:par>
                          <p:cTn id="1206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presetID="10" presetClass="entr" presetSubtype="0" fill="hold" grpId="9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2" fill="hold">
                      <p:stCondLst>
                        <p:cond delay="indefin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presetID="10" presetClass="entr" presetSubtype="0" fill="hold" grpId="9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9" fill="hold">
                      <p:stCondLst>
                        <p:cond delay="indefin"/>
                      </p:stCondLst>
                      <p:childTnLst>
                        <p:par>
                          <p:cTn id="1220" fill="hold">
                            <p:stCondLst>
                              <p:cond delay="0"/>
                            </p:stCondLst>
                            <p:childTnLst>
                              <p:par>
                                <p:cTn id="1221" presetID="10" presetClass="entr" presetSubtype="0" fill="hold" grpId="9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6" fill="hold">
                      <p:stCondLst>
                        <p:cond delay="indefin"/>
                      </p:stCondLst>
                      <p:childTnLst>
                        <p:par>
                          <p:cTn id="1227" fill="hold">
                            <p:stCondLst>
                              <p:cond delay="0"/>
                            </p:stCondLst>
                            <p:childTnLst>
                              <p:par>
                                <p:cTn id="1228" presetID="10" presetClass="entr" presetSubtype="0" fill="hold" grpId="1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3" fill="hold">
                      <p:stCondLst>
                        <p:cond delay="indefin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10" presetClass="entr" presetSubtype="0" fill="hold" grpId="10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0" fill="hold">
                      <p:stCondLst>
                        <p:cond delay="indefin"/>
                      </p:stCondLst>
                      <p:childTnLst>
                        <p:par>
                          <p:cTn id="1241" fill="hold">
                            <p:stCondLst>
                              <p:cond delay="0"/>
                            </p:stCondLst>
                            <p:childTnLst>
                              <p:par>
                                <p:cTn id="1242" presetID="10" presetClass="entr" presetSubtype="0" fill="hold" grpId="10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>
                      <p:stCondLst>
                        <p:cond delay="indefin"/>
                      </p:stCondLst>
                      <p:childTnLst>
                        <p:par>
                          <p:cTn id="1248" fill="hold">
                            <p:stCondLst>
                              <p:cond delay="0"/>
                            </p:stCondLst>
                            <p:childTnLst>
                              <p:par>
                                <p:cTn id="1249" presetID="10" presetClass="entr" presetSubtype="0" fill="hold" grpId="10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4" fill="hold">
                      <p:stCondLst>
                        <p:cond delay="indefin"/>
                      </p:stCondLst>
                      <p:childTnLst>
                        <p:par>
                          <p:cTn id="1255" fill="hold">
                            <p:stCondLst>
                              <p:cond delay="0"/>
                            </p:stCondLst>
                            <p:childTnLst>
                              <p:par>
                                <p:cTn id="1256" presetID="10" presetClass="entr" presetSubtype="0" fill="hold" grpId="10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1" fill="hold">
                      <p:stCondLst>
                        <p:cond delay="indefin"/>
                      </p:stCondLst>
                      <p:childTnLst>
                        <p:par>
                          <p:cTn id="1262" fill="hold">
                            <p:stCondLst>
                              <p:cond delay="0"/>
                            </p:stCondLst>
                            <p:childTnLst>
                              <p:par>
                                <p:cTn id="1263" presetID="10" presetClass="entr" presetSubtype="0" fill="hold" grpId="10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8" fill="hold">
                      <p:stCondLst>
                        <p:cond delay="indefin"/>
                      </p:stCondLst>
                      <p:childTnLst>
                        <p:par>
                          <p:cTn id="1269" fill="hold">
                            <p:stCondLst>
                              <p:cond delay="0"/>
                            </p:stCondLst>
                            <p:childTnLst>
                              <p:par>
                                <p:cTn id="1270" presetID="10" presetClass="entr" presetSubtype="0" fill="hold" grpId="10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97"/>
      <p:bldP spid="5" grpId="98"/>
      <p:bldP spid="7" grpId="99"/>
      <p:bldP spid="8" grpId="100"/>
      <p:bldP spid="10" grpId="101"/>
      <p:bldP spid="11" grpId="102"/>
      <p:bldP spid="13" grpId="103"/>
      <p:bldP spid="14" grpId="104"/>
      <p:bldP spid="16" grpId="105"/>
      <p:bldP spid="17" grpId="106"/>
    </p:bldLst>
  </p:timing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459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Everyone deserves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a great TV.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TECHNOLOGY DEEP DIVE</a:t>
            </a:r>
          </a:p>
        </p:txBody>
      </p:sp>
      <p:sp>
        <p:nvSpPr>
          <p:cNvPr id="4" name="sqd_big"/>
          <p:cNvSpPr txBox="1"/>
          <p:nvPr/>
        </p:nvSpPr>
        <p:spPr>
          <a:xfrm>
            <a:off x="0" y="548640"/>
            <a:ext cx="121889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E8002D"/>
                </a:solidFill>
                <a:latin typeface="Arial"/>
              </a:rPr>
              <a:t>SQD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qd_big"/>
          <p:cNvSpPr txBox="1"/>
          <p:nvPr/>
        </p:nvSpPr>
        <p:spPr>
          <a:xfrm>
            <a:off x="0" y="27432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SQD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Sub-pixel Quantum Dot.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6576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  <a:latin typeface="Arial"/>
              </a:rPr>
              <a:t>The next evolution beyond QLED.  TCL-exclusive. Patent-protected.</a:t>
            </a:r>
          </a:p>
        </p:txBody>
      </p:sp>
    </p:spTree>
  </p:cSld>
  <p:clrMapOvr>
    <a:masterClrMapping/>
  </p:clrMapOvr>
  <p:timing>
    <p:tnLst>
      <p:par>
        <p:cTn id="1284" dur="indefin" restart="whenNotActive" nodeType="tmRoot">
          <p:childTnLst>
            <p:seq concurrent="1" nextAc="seek">
              <p:cTn id="1285" dur="indefin" nodeType="mainSeq">
                <p:childTnLst>
                  <p:par>
                    <p:cTn id="1277" fill="hold">
                      <p:stCondLst>
                        <p:cond delay="indefin"/>
                      </p:stCondLst>
                      <p:childTnLst>
                        <p:par>
                          <p:cTn id="1278" fill="hold">
                            <p:stCondLst>
                              <p:cond delay="0"/>
                            </p:stCondLst>
                            <p:childTnLst>
                              <p:par>
                                <p:cTn id="1279" presetID="10" presetClass="entr" presetSubtype="0" fill="hold" grpId="10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107"/>
    </p:bldLst>
  </p:timing>
  <p:transition xmlns:p14="http://schemas.microsoft.com/office/powerpoint/2010/main" spd="med">
    <p14:morph style="byObject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Regular QLED: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888888"/>
                </a:solidFill>
                <a:latin typeface="Arial"/>
              </a:rPr>
              <a:t>One filter. Whole screen.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1440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SQD: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Every pixel.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BBBBBB"/>
                </a:solidFill>
                <a:latin typeface="Arial"/>
              </a:rPr>
              <a:t>Its own filter.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1b"/>
          <p:cNvSpPr txBox="1"/>
          <p:nvPr/>
        </p:nvSpPr>
        <p:spPr>
          <a:xfrm>
            <a:off x="0" y="1280160"/>
            <a:ext cx="12188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Arial"/>
              </a:rPr>
              <a:t>1.07B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n_1b"/>
          <p:cNvSpPr txBox="1"/>
          <p:nvPr/>
        </p:nvSpPr>
        <p:spPr>
          <a:xfrm>
            <a:off x="0" y="8229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1.07B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Color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The human eye can see about 10 million.</a:t>
            </a:r>
          </a:p>
        </p:txBody>
      </p:sp>
    </p:spTree>
  </p:cSld>
  <p:clrMapOvr>
    <a:masterClrMapping/>
  </p:clrMapOvr>
  <p:transition xmlns:p14="http://schemas.microsoft.com/office/powerpoint/2010/main" spd="med">
    <p14:morph style="byObject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tec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SQD VS THE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88888"/>
                </a:solidFill>
                <a:latin typeface="Arial"/>
              </a:rPr>
              <a:t>QLED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Panel-level quantum dot filter.
Good color. Limited precision.
One filter for millions of pixels.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188720"/>
            <a:ext cx="18288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0832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88888"/>
                </a:solidFill>
                <a:latin typeface="Arial"/>
              </a:rPr>
              <a:t>OLED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Self-emissive pixels.
Great black levels.
Lower brightness. Burn-in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1188720"/>
            <a:ext cx="18288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002D"/>
                </a:solidFill>
                <a:latin typeface="Arial"/>
              </a:rPr>
              <a:t>SQD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Sub-pixel level filter.
Peak brightness of MiniLED.
Color precision per pixel.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SALES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How to sell TCL
in 2026.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THE 3-STEP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01   Ask: "What do you watch most?"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02   Match: Show the right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03   Demo: Let the screen close the sale.</a:t>
            </a:r>
          </a:p>
        </p:txBody>
      </p:sp>
    </p:spTree>
  </p:cSld>
  <p:clrMapOvr>
    <a:masterClrMapping/>
  </p:clrMapOvr>
  <p:timing>
    <p:tnLst>
      <p:par>
        <p:cTn id="1307" dur="indefin" restart="whenNotActive" nodeType="tmRoot">
          <p:childTnLst>
            <p:seq concurrent="1" nextAc="seek">
              <p:cTn id="1308" dur="indefin" nodeType="mainSeq">
                <p:childTnLst>
                  <p:par>
                    <p:cTn id="1286" fill="hold">
                      <p:stCondLst>
                        <p:cond delay="indefin"/>
                      </p:stCondLst>
                      <p:childTnLst>
                        <p:par>
                          <p:cTn id="1287" fill="hold">
                            <p:stCondLst>
                              <p:cond delay="0"/>
                            </p:stCondLst>
                            <p:childTnLst>
                              <p:par>
                                <p:cTn id="1288" presetID="10" presetClass="entr" presetSubtype="0" fill="hold" grpId="10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3" fill="hold">
                      <p:stCondLst>
                        <p:cond delay="indefin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10" presetClass="entr" presetSubtype="0" fill="hold" grpId="10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0" fill="hold">
                      <p:stCondLst>
                        <p:cond delay="indefin"/>
                      </p:stCondLst>
                      <p:childTnLst>
                        <p:par>
                          <p:cTn id="1301" fill="hold">
                            <p:stCondLst>
                              <p:cond delay="0"/>
                            </p:stCondLst>
                            <p:childTnLst>
                              <p:par>
                                <p:cTn id="1302" presetID="10" presetClass="entr" presetSubtype="0" fill="hold" grpId="1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108"/>
      <p:bldP spid="5" grpId="109"/>
      <p:bldP spid="6" grpId="110"/>
    </p:bldLst>
  </p:timing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7160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Arial"/>
              </a:rPr>
              <a:t>Show.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002D"/>
                </a:solidFill>
                <a:latin typeface="Arial"/>
              </a:rPr>
              <a:t>Don't tell.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The SQD difference is visible in 5 seconds.</a:t>
            </a:r>
          </a:p>
        </p:txBody>
      </p:sp>
    </p:spTree>
  </p:cSld>
  <p:clrMapOvr>
    <a:masterClrMapping/>
  </p:clrMapOvr>
  <p:timing>
    <p:tnLst>
      <p:par>
        <p:cTn id="1316" dur="indefin" restart="whenNotActive" nodeType="tmRoot">
          <p:childTnLst>
            <p:seq concurrent="1" nextAc="seek">
              <p:cTn id="1317" dur="indefin" nodeType="mainSeq">
                <p:childTnLst>
                  <p:par>
                    <p:cTn id="1309" fill="hold">
                      <p:stCondLst>
                        <p:cond delay="indefin"/>
                      </p:stCondLst>
                      <p:childTnLst>
                        <p:par>
                          <p:cTn id="1310" fill="hold">
                            <p:stCondLst>
                              <p:cond delay="0"/>
                            </p:stCondLst>
                            <p:childTnLst>
                              <p:par>
                                <p:cTn id="1311" presetID="10" presetClass="entr" presetSubtype="0" fill="hold" grpId="1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5" grpId="111"/>
    </p:bldLst>
  </p:timing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THE SQD DEMO — IN-STORE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1.  Point to any QLED TV next to C7L / C8L.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2.  Say: "See the green on that screen?"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3.  Point to TCL: "Now look at ours."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4.  Say: "That's SQD — sub-pixel filtering."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5.  Ask: "Can you see the difference?"</a:t>
            </a:r>
          </a:p>
        </p:txBody>
      </p:sp>
    </p:spTree>
  </p:cSld>
  <p:clrMapOvr>
    <a:masterClrMapping/>
  </p:clrMapOvr>
  <p:timing>
    <p:tnLst>
      <p:par>
        <p:cTn id="1353" dur="indefin" restart="whenNotActive" nodeType="tmRoot">
          <p:childTnLst>
            <p:seq concurrent="1" nextAc="seek">
              <p:cTn id="1354" dur="indefin" nodeType="mainSeq">
                <p:childTnLst>
                  <p:par>
                    <p:cTn id="1318" fill="hold">
                      <p:stCondLst>
                        <p:cond delay="indefin"/>
                      </p:stCondLst>
                      <p:childTnLst>
                        <p:par>
                          <p:cTn id="1319" fill="hold">
                            <p:stCondLst>
                              <p:cond delay="0"/>
                            </p:stCondLst>
                            <p:childTnLst>
                              <p:par>
                                <p:cTn id="1320" presetID="10" presetClass="entr" presetSubtype="0" fill="hold" grpId="1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5" fill="hold">
                      <p:stCondLst>
                        <p:cond delay="indefin"/>
                      </p:stCondLst>
                      <p:childTnLst>
                        <p:par>
                          <p:cTn id="1326" fill="hold">
                            <p:stCondLst>
                              <p:cond delay="0"/>
                            </p:stCondLst>
                            <p:childTnLst>
                              <p:par>
                                <p:cTn id="1327" presetID="10" presetClass="entr" presetSubtype="0" fill="hold" grpId="1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2" fill="hold">
                      <p:stCondLst>
                        <p:cond delay="indefin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10" presetClass="entr" presetSubtype="0" fill="hold" grpId="1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9" fill="hold">
                      <p:stCondLst>
                        <p:cond delay="indefin"/>
                      </p:stCondLst>
                      <p:childTnLst>
                        <p:par>
                          <p:cTn id="1340" fill="hold">
                            <p:stCondLst>
                              <p:cond delay="0"/>
                            </p:stCondLst>
                            <p:childTnLst>
                              <p:par>
                                <p:cTn id="1341" presetID="10" presetClass="entr" presetSubtype="0" fill="hold" grpId="1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6" fill="hold">
                      <p:stCondLst>
                        <p:cond delay="indefin"/>
                      </p:stCondLst>
                      <p:childTnLst>
                        <p:par>
                          <p:cTn id="1347" fill="hold">
                            <p:stCondLst>
                              <p:cond delay="0"/>
                            </p:stCondLst>
                            <p:childTnLst>
                              <p:par>
                                <p:cTn id="1348" presetID="10" presetClass="entr" presetSubtype="0" fill="hold" grpId="1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112"/>
      <p:bldP spid="5" grpId="113"/>
      <p:bldP spid="6" grpId="114"/>
      <p:bldP spid="7" grpId="115"/>
      <p:bldP spid="8" grpId="116"/>
    </p:bldLst>
  </p:timing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002D"/>
                </a:solidFill>
                <a:latin typeface="Arial"/>
              </a:rPr>
              <a:t>UPSELL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05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Budget-conscious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0584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C7L — Best value SQD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7556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Wants the best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55648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C8L — Dolby Vision 2 Max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2140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5054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Wants extreme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05456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RM9L — 85" to 115"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8712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255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Money is no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55264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X11L — The pinnacle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62102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0050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Gaming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05072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C7L — 144Hz SQD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370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754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First-time 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3959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P6L or P7L — Smart 4K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12064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439" dur="indefin" restart="whenNotActive" nodeType="tmRoot">
          <p:childTnLst>
            <p:seq concurrent="1" nextAc="seek">
              <p:cTn id="1440" dur="indefin" nodeType="mainSeq">
                <p:childTnLst>
                  <p:par>
                    <p:cTn id="1355" fill="hold">
                      <p:stCondLst>
                        <p:cond delay="indefin"/>
                      </p:stCondLst>
                      <p:childTnLst>
                        <p:par>
                          <p:cTn id="1356" fill="hold">
                            <p:stCondLst>
                              <p:cond delay="0"/>
                            </p:stCondLst>
                            <p:childTnLst>
                              <p:par>
                                <p:cTn id="1357" presetID="10" presetClass="entr" presetSubtype="0" fill="hold" grpId="1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2" fill="hold">
                      <p:stCondLst>
                        <p:cond delay="indefin"/>
                      </p:stCondLst>
                      <p:childTnLst>
                        <p:par>
                          <p:cTn id="1363" fill="hold">
                            <p:stCondLst>
                              <p:cond delay="0"/>
                            </p:stCondLst>
                            <p:childTnLst>
                              <p:par>
                                <p:cTn id="1364" presetID="10" presetClass="entr" presetSubtype="0" fill="hold" grpId="1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9" fill="hold">
                      <p:stCondLst>
                        <p:cond delay="indefin"/>
                      </p:stCondLst>
                      <p:childTnLst>
                        <p:par>
                          <p:cTn id="1370" fill="hold">
                            <p:stCondLst>
                              <p:cond delay="0"/>
                            </p:stCondLst>
                            <p:childTnLst>
                              <p:par>
                                <p:cTn id="1371" presetID="10" presetClass="entr" presetSubtype="0" fill="hold" grpId="1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6" fill="hold">
                      <p:stCondLst>
                        <p:cond delay="indefin"/>
                      </p:stCondLst>
                      <p:childTnLst>
                        <p:par>
                          <p:cTn id="1377" fill="hold">
                            <p:stCondLst>
                              <p:cond delay="0"/>
                            </p:stCondLst>
                            <p:childTnLst>
                              <p:par>
                                <p:cTn id="1378" presetID="10" presetClass="entr" presetSubtype="0" fill="hold" grpId="1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3" fill="hold">
                      <p:stCondLst>
                        <p:cond delay="indefin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10" presetClass="entr" presetSubtype="0" fill="hold" grpId="1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0" fill="hold">
                      <p:stCondLst>
                        <p:cond delay="indefin"/>
                      </p:stCondLst>
                      <p:childTnLst>
                        <p:par>
                          <p:cTn id="1391" fill="hold">
                            <p:stCondLst>
                              <p:cond delay="0"/>
                            </p:stCondLst>
                            <p:childTnLst>
                              <p:par>
                                <p:cTn id="1392" presetID="10" presetClass="entr" presetSubtype="0" fill="hold" grpId="1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fill="hold">
                      <p:stCondLst>
                        <p:cond delay="indefin"/>
                      </p:stCondLst>
                      <p:childTnLst>
                        <p:par>
                          <p:cTn id="1398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presetID="10" presetClass="entr" presetSubtype="0" fill="hold" grpId="1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4" fill="hold">
                      <p:stCondLst>
                        <p:cond delay="indefin"/>
                      </p:stCondLst>
                      <p:childTnLst>
                        <p:par>
                          <p:cTn id="1405" fill="hold">
                            <p:stCondLst>
                              <p:cond delay="0"/>
                            </p:stCondLst>
                            <p:childTnLst>
                              <p:par>
                                <p:cTn id="1406" presetID="10" presetClass="entr" presetSubtype="0" fill="hold" grpId="1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1" fill="hold">
                      <p:stCondLst>
                        <p:cond delay="indefin"/>
                      </p:stCondLst>
                      <p:childTnLst>
                        <p:par>
                          <p:cTn id="1412" fill="hold">
                            <p:stCondLst>
                              <p:cond delay="0"/>
                            </p:stCondLst>
                            <p:childTnLst>
                              <p:par>
                                <p:cTn id="1413" presetID="10" presetClass="entr" presetSubtype="0" fill="hold" grpId="1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8" fill="hold">
                      <p:stCondLst>
                        <p:cond delay="indefin"/>
                      </p:stCondLst>
                      <p:childTnLst>
                        <p:par>
                          <p:cTn id="1419" fill="hold">
                            <p:stCondLst>
                              <p:cond delay="0"/>
                            </p:stCondLst>
                            <p:childTnLst>
                              <p:par>
                                <p:cTn id="1420" presetID="10" presetClass="entr" presetSubtype="0" fill="hold" grpId="1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5" fill="hold">
                      <p:stCondLst>
                        <p:cond delay="indefin"/>
                      </p:stCondLst>
                      <p:childTnLst>
                        <p:par>
                          <p:cTn id="1426" fill="hold">
                            <p:stCondLst>
                              <p:cond delay="0"/>
                            </p:stCondLst>
                            <p:childTnLst>
                              <p:par>
                                <p:cTn id="1427" presetID="10" presetClass="entr" presetSubtype="0" fill="hold" grpId="1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2" fill="hold">
                      <p:stCondLst>
                        <p:cond delay="indefin"/>
                      </p:stCondLst>
                      <p:childTnLst>
                        <p:par>
                          <p:cTn id="1433" fill="hold">
                            <p:stCondLst>
                              <p:cond delay="0"/>
                            </p:stCondLst>
                            <p:childTnLst>
                              <p:par>
                                <p:cTn id="1434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4" grpId="117"/>
      <p:bldP spid="5" grpId="118"/>
      <p:bldP spid="7" grpId="119"/>
      <p:bldP spid="8" grpId="120"/>
      <p:bldP spid="10" grpId="121"/>
      <p:bldP spid="11" grpId="122"/>
      <p:bldP spid="13" grpId="123"/>
      <p:bldP spid="14" grpId="124"/>
      <p:bldP spid="16" grpId="125"/>
      <p:bldP spid="17" grpId="126"/>
      <p:bldP spid="19" grpId="127"/>
      <p:bldP spid="20" grpId="128"/>
    </p:bldLst>
  </p:timing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d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3040"/>
            <a:ext cx="12188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You are now
the expert.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_bg_gol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40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Arial"/>
              </a:rPr>
              <a:t>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D4AF37"/>
                </a:solidFill>
                <a:latin typeface="Arial"/>
              </a:rPr>
              <a:t>TCL
CERTIFIED.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663440"/>
            <a:ext cx="914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You now sell the best TV technology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002D"/>
                </a:solidFill>
                <a:latin typeface="Arial"/>
              </a:rPr>
              <a:t>TCL  ·  2026</a:t>
            </a:r>
          </a:p>
        </p:txBody>
      </p:sp>
    </p:spTree>
  </p:cSld>
  <p:clrMapOvr>
    <a:masterClrMapping/>
  </p:clrMapOvr>
  <p:timing>
    <p:tnLst>
      <p:par>
        <p:cTn id="1448" dur="indefin" restart="whenNotActive" nodeType="tmRoot">
          <p:childTnLst>
            <p:seq concurrent="1" nextAc="seek">
              <p:cTn id="1449" dur="indefin" nodeType="mainSeq">
                <p:childTnLst>
                  <p:par>
                    <p:cTn id="1441" fill="hold">
                      <p:stCondLst>
                        <p:cond delay="indefin"/>
                      </p:stCondLst>
                      <p:childTnLst>
                        <p:par>
                          <p:cTn id="1442" fill="hold">
                            <p:stCondLst>
                              <p:cond delay="0"/>
                            </p:stCondLst>
                            <p:childTnLst>
                              <p:par>
                                <p:cTn id="1443" presetID="10" presetClass="entr" presetSubtype="0" fill="hold" grpId="1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>
      <p:bldP spid="6" grpId="129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